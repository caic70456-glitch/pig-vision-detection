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847088"/>
            <a:ext cx="1371600" cy="73152"/>
          </a:xfrm>
          <a:prstGeom prst="rect">
            <a:avLst/>
          </a:prstGeom>
          <a:solidFill>
            <a:srgbClr val="D96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CB4D0"/>
                </a:solidFill>
                <a:latin typeface="微软雅黑"/>
              </a:rPr>
              <a:t>第八届全球校园人工智能算法精英大赛 · 校内选拔赛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10789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微软雅黑"/>
              </a:rPr>
              <a:t>基于视觉行为感知的猪只疫病辅助诊断系统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A8C8E8"/>
                </a:solidFill>
                <a:latin typeface="微软雅黑"/>
              </a:rPr>
              <a:t>零训练成本的边缘可部署方案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C8D8E8"/>
                </a:solidFill>
                <a:latin typeface="微软雅黑"/>
              </a:rPr>
              <a:t>参赛赛道：AI+农业算法主题赛道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CB4D0"/>
                </a:solidFill>
                <a:latin typeface="微软雅黑"/>
              </a:rPr>
              <a:t>队长：陈麒光　动物科学（动物科学+人工智能双学士学位）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75488"/>
          </a:xfrm>
          <a:prstGeom prst="rect">
            <a:avLst/>
          </a:prstGeom>
          <a:solidFill>
            <a:srgbClr val="D96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29184"/>
            <a:ext cx="10058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42C52"/>
                </a:solidFill>
                <a:latin typeface="微软雅黑"/>
              </a:rPr>
              <a:t>要解决的问题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6B"/>
                </a:solidFill>
                <a:latin typeface="微软雅黑"/>
              </a:rPr>
              <a:t>疫病早期发现依赖人工巡查，存在三个现实困难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26B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2764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A8B0B8"/>
                </a:solidFill>
                <a:latin typeface="微软雅黑"/>
              </a:rPr>
              <a:t>基于视觉行为感知的猪只疫病辅助诊断系统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3657600" cy="228600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72768"/>
            <a:ext cx="3657600" cy="82296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0664" y="1810512"/>
            <a:ext cx="566928" cy="5669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883664"/>
            <a:ext cx="25237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F5C99"/>
                </a:solidFill>
                <a:latin typeface="微软雅黑"/>
              </a:rPr>
              <a:t>覆盖不足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2578608"/>
            <a:ext cx="3182112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33940"/>
                </a:solidFill>
                <a:latin typeface="微软雅黑"/>
              </a:rPr>
              <a:t>饲养员人均看护头数多，难以逐栏逐头细致观察；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33940"/>
                </a:solidFill>
                <a:latin typeface="微软雅黑"/>
              </a:rPr>
              <a:t>夜间与节假日巡查频次下降，而部分疾病恰在此时段加重。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2544" y="1572768"/>
            <a:ext cx="3657600" cy="228600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2544" y="1572768"/>
            <a:ext cx="3657600" cy="82296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90288" y="1810512"/>
            <a:ext cx="566928" cy="566928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85232" y="1883664"/>
            <a:ext cx="25237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E7D4F"/>
                </a:solidFill>
                <a:latin typeface="微软雅黑"/>
              </a:rPr>
              <a:t>主观性强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578608"/>
            <a:ext cx="3182112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33940"/>
                </a:solidFill>
                <a:latin typeface="微软雅黑"/>
              </a:rPr>
              <a:t>行为是否属于异常依赖饲养员个人经验，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33940"/>
                </a:solidFill>
                <a:latin typeface="微软雅黑"/>
              </a:rPr>
              <a:t>不同人判断标准不一致，换人看护后结论可能变化。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2168" y="1572768"/>
            <a:ext cx="3657600" cy="228600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2168" y="1572768"/>
            <a:ext cx="3657600" cy="82296"/>
          </a:xfrm>
          <a:prstGeom prst="rect">
            <a:avLst/>
          </a:prstGeom>
          <a:solidFill>
            <a:srgbClr val="D96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39912" y="1810512"/>
            <a:ext cx="566928" cy="566928"/>
          </a:xfrm>
          <a:prstGeom prst="ellipse">
            <a:avLst/>
          </a:prstGeom>
          <a:solidFill>
            <a:srgbClr val="D96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4856" y="1883664"/>
            <a:ext cx="25237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D96B1E"/>
                </a:solidFill>
                <a:latin typeface="微软雅黑"/>
              </a:rPr>
              <a:t>难以量化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2" y="2578608"/>
            <a:ext cx="3182112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33940"/>
                </a:solidFill>
                <a:latin typeface="微软雅黑"/>
              </a:rPr>
              <a:t>即使发现异常，也缺少「比平时少了多少」的记录，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33940"/>
                </a:solidFill>
                <a:latin typeface="微软雅黑"/>
              </a:rPr>
              <a:t>难以支撑趋势判断和事后复盘。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160520"/>
            <a:ext cx="11183112" cy="96012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160520"/>
            <a:ext cx="82296" cy="96012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315968"/>
            <a:ext cx="10607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42C52"/>
                </a:solidFill>
                <a:latin typeface="微软雅黑"/>
              </a:rPr>
              <a:t>本阶段分析依据 41 篇中文养猪文献与专业课程学习、猪场实习中的现场观察。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26B"/>
                </a:solidFill>
                <a:latin typeface="微软雅黑"/>
              </a:rPr>
              <a:t>面向养殖从业者的问卷调研尚在进行中，痛点判断属于分析结论，后续将以问卷数据验证与细化。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75488"/>
          </a:xfrm>
          <a:prstGeom prst="rect">
            <a:avLst/>
          </a:prstGeom>
          <a:solidFill>
            <a:srgbClr val="D96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29184"/>
            <a:ext cx="10058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42C52"/>
                </a:solidFill>
                <a:latin typeface="微软雅黑"/>
              </a:rPr>
              <a:t>切入点：把现成的监控画面用起来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26B"/>
                </a:solidFill>
                <a:latin typeface="微软雅黑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2764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A8B0B8"/>
                </a:solidFill>
                <a:latin typeface="微软雅黑"/>
              </a:rPr>
              <a:t>基于视觉行为感知的猪只疫病辅助诊断系统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440680" cy="278892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440680" cy="82296"/>
          </a:xfrm>
          <a:prstGeom prst="rect">
            <a:avLst/>
          </a:prstGeom>
          <a:solidFill>
            <a:srgbClr val="5A6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49377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A626B"/>
                </a:solidFill>
                <a:latin typeface="微软雅黑"/>
              </a:rPr>
              <a:t>现状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333940"/>
                </a:solidFill>
                <a:latin typeface="微软雅黑"/>
              </a:rPr>
              <a:t>· 猪场普遍已安装监控摄像头，图像采集条件具备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333940"/>
                </a:solidFill>
                <a:latin typeface="微软雅黑"/>
              </a:rPr>
              <a:t>· 但录像基本只用于事后回看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333940"/>
                </a:solidFill>
                <a:latin typeface="微软雅黑"/>
              </a:rPr>
              <a:t>· 视频数据没有转化成可用于预警的行为指标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5352" y="1417320"/>
            <a:ext cx="5440680" cy="2788920"/>
          </a:xfrm>
          <a:prstGeom prst="rect">
            <a:avLst/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5352" y="1417320"/>
            <a:ext cx="5440680" cy="82296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1691640"/>
            <a:ext cx="49377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2E7D4F"/>
                </a:solidFill>
                <a:latin typeface="微软雅黑"/>
              </a:rPr>
              <a:t>本作品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333940"/>
                </a:solidFill>
                <a:latin typeface="微软雅黑"/>
              </a:rPr>
              <a:t>· 把现成的监控画面转化成可量化的行为数据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333940"/>
                </a:solidFill>
                <a:latin typeface="微软雅黑"/>
              </a:rPr>
              <a:t>· 复用已有摄像头，不新增硬件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333940"/>
                </a:solidFill>
                <a:latin typeface="微软雅黑"/>
              </a:rPr>
              <a:t>· 纯 CPU 推理，不需独立显卡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70448" y="2514600"/>
            <a:ext cx="502920" cy="457200"/>
          </a:xfrm>
          <a:prstGeom prst="rightArrow">
            <a:avLst/>
          </a:prstGeom>
          <a:solidFill>
            <a:srgbClr val="D96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4434840"/>
            <a:ext cx="11183112" cy="868680"/>
          </a:xfrm>
          <a:prstGeom prst="rect">
            <a:avLst/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572000"/>
            <a:ext cx="106070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96B1E"/>
                </a:solidFill>
                <a:latin typeface="微软雅黑"/>
              </a:rPr>
              <a:t>复用已有摄像头 + 纯 CPU 推理，相比部署 GPU 方案可省去数万元设备投入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75488"/>
          </a:xfrm>
          <a:prstGeom prst="rect">
            <a:avLst/>
          </a:prstGeom>
          <a:solidFill>
            <a:srgbClr val="D96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29184"/>
            <a:ext cx="10058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42C52"/>
                </a:solidFill>
                <a:latin typeface="微软雅黑"/>
              </a:rPr>
              <a:t>系统结构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6B"/>
                </a:solidFill>
                <a:latin typeface="微软雅黑"/>
              </a:rPr>
              <a:t>三层结构，每层都有可量化的验证指标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26B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2764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A8B0B8"/>
                </a:solidFill>
                <a:latin typeface="微软雅黑"/>
              </a:rPr>
              <a:t>基于视觉行为感知的猪只疫病辅助诊断系统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2286000" cy="1170432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228600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视觉感知层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1481328"/>
            <a:ext cx="8897112" cy="1170432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1481328"/>
            <a:ext cx="841248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A3036"/>
                </a:solidFill>
                <a:latin typeface="微软雅黑"/>
              </a:rPr>
              <a:t>猪只检测　+　设施区域标定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F5C99"/>
                </a:solidFill>
                <a:latin typeface="微软雅黑"/>
              </a:rPr>
              <a:t>mAP50 0.94　·　CPU 37 毫秒/张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6035040" y="2688336"/>
            <a:ext cx="292608" cy="201168"/>
          </a:xfrm>
          <a:prstGeom prst="downArrow">
            <a:avLst/>
          </a:prstGeom>
          <a:solidFill>
            <a:srgbClr val="C5C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962656"/>
            <a:ext cx="2286000" cy="1170432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962656"/>
            <a:ext cx="228600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行为理解层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962656"/>
            <a:ext cx="8897112" cy="1170432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3240" y="2962656"/>
            <a:ext cx="841248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A3036"/>
                </a:solidFill>
                <a:latin typeface="微软雅黑"/>
              </a:rPr>
              <a:t>设施锚定（空间）+ 位移与面积变化（时序）→ 六类行为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E7D4F"/>
                </a:solidFill>
                <a:latin typeface="微软雅黑"/>
              </a:rPr>
              <a:t>21/21 单帧　·　7/7 时序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6035040" y="4169664"/>
            <a:ext cx="292608" cy="201168"/>
          </a:xfrm>
          <a:prstGeom prst="downArrow">
            <a:avLst/>
          </a:prstGeom>
          <a:solidFill>
            <a:srgbClr val="C5C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443984"/>
            <a:ext cx="2286000" cy="1170432"/>
          </a:xfrm>
          <a:prstGeom prst="rect">
            <a:avLst/>
          </a:prstGeom>
          <a:solidFill>
            <a:srgbClr val="D96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443984"/>
            <a:ext cx="228600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应用层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88920" y="4443984"/>
            <a:ext cx="8897112" cy="1170432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63240" y="4443984"/>
            <a:ext cx="841248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A3036"/>
                </a:solidFill>
                <a:latin typeface="微软雅黑"/>
              </a:rPr>
              <a:t>健康评估　+　疫病辅助诊断　+　用药安全提示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96B1E"/>
                </a:solidFill>
                <a:latin typeface="微软雅黑"/>
              </a:rPr>
              <a:t>诊断 Top-3 80%　·　禁用药物拦截 4/4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75488"/>
          </a:xfrm>
          <a:prstGeom prst="rect">
            <a:avLst/>
          </a:prstGeom>
          <a:solidFill>
            <a:srgbClr val="D96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29184"/>
            <a:ext cx="10058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42C52"/>
                </a:solidFill>
                <a:latin typeface="微软雅黑"/>
              </a:rPr>
              <a:t>创新点概览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6B"/>
                </a:solidFill>
                <a:latin typeface="微软雅黑"/>
              </a:rPr>
              <a:t>三个环节的做法对比：别人怎么做 → 为什么不够 → 我改了什么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26B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2764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A8B0B8"/>
                </a:solidFill>
                <a:latin typeface="微软雅黑"/>
              </a:rPr>
              <a:t>基于视觉行为感知的猪只疫病辅助诊断系统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17904"/>
            <a:ext cx="11183112" cy="1389888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17904"/>
            <a:ext cx="82296" cy="1389888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517904"/>
            <a:ext cx="1234440" cy="1389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5C99"/>
                </a:solidFill>
                <a:latin typeface="微软雅黑"/>
              </a:rPr>
              <a:t>检测环节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719072"/>
            <a:ext cx="2651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8A929A"/>
                </a:solidFill>
                <a:latin typeface="微软雅黑"/>
              </a:rPr>
              <a:t>别人怎么做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6B"/>
                </a:solidFill>
                <a:latin typeface="微软雅黑"/>
              </a:rPr>
              <a:t>直接用通用预训练检测器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1719072"/>
            <a:ext cx="2651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8A929A"/>
                </a:solidFill>
                <a:latin typeface="微软雅黑"/>
              </a:rPr>
              <a:t>为什么不够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0302B"/>
                </a:solidFill>
                <a:latin typeface="微软雅黑"/>
              </a:rPr>
              <a:t>COCO 的 80 个类别中没有猪，实测漏检约 65%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1719072"/>
            <a:ext cx="2651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8A929A"/>
                </a:solidFill>
                <a:latin typeface="微软雅黑"/>
              </a:rPr>
              <a:t>本作品做法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5C99"/>
                </a:solidFill>
                <a:latin typeface="微软雅黑"/>
              </a:rPr>
              <a:t>自训单类 YOLOv8n 检测器　→　mAP50 0.94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054096"/>
            <a:ext cx="11183112" cy="1389888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054096"/>
            <a:ext cx="82296" cy="1389888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054096"/>
            <a:ext cx="1234440" cy="1389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E7D4F"/>
                </a:solidFill>
                <a:latin typeface="微软雅黑"/>
              </a:rPr>
              <a:t>行为识别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255264"/>
            <a:ext cx="2651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8A929A"/>
                </a:solidFill>
                <a:latin typeface="微软雅黑"/>
              </a:rPr>
              <a:t>别人怎么做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6B"/>
                </a:solidFill>
                <a:latin typeface="微软雅黑"/>
              </a:rPr>
              <a:t>端到端时序动作识别网络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3255264"/>
            <a:ext cx="2651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8A929A"/>
                </a:solidFill>
                <a:latin typeface="微软雅黑"/>
              </a:rPr>
              <a:t>为什么不够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0302B"/>
                </a:solidFill>
                <a:latin typeface="微软雅黑"/>
              </a:rPr>
              <a:t>需大规模行为标注视频，且要求 GPU 推理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3255264"/>
            <a:ext cx="2651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8A929A"/>
                </a:solidFill>
                <a:latin typeface="微软雅黑"/>
              </a:rPr>
              <a:t>本作品做法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E7D4F"/>
                </a:solidFill>
                <a:latin typeface="微软雅黑"/>
              </a:rPr>
              <a:t>检测与行为推理拆开，用规则实现　→　零标注成本 · 纯 CPU · 每条可解释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590288"/>
            <a:ext cx="11183112" cy="1389888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590288"/>
            <a:ext cx="82296" cy="1389888"/>
          </a:xfrm>
          <a:prstGeom prst="rect">
            <a:avLst/>
          </a:prstGeom>
          <a:solidFill>
            <a:srgbClr val="D96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590288"/>
            <a:ext cx="1234440" cy="1389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D96B1E"/>
                </a:solidFill>
                <a:latin typeface="微软雅黑"/>
              </a:rPr>
              <a:t>设施标定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4791456"/>
            <a:ext cx="2651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8A929A"/>
                </a:solidFill>
                <a:latin typeface="微软雅黑"/>
              </a:rPr>
              <a:t>别人怎么做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6B"/>
                </a:solidFill>
                <a:latin typeface="微软雅黑"/>
              </a:rPr>
              <a:t>再训练一个设施检测器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4791456"/>
            <a:ext cx="2651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8A929A"/>
                </a:solidFill>
                <a:latin typeface="微软雅黑"/>
              </a:rPr>
              <a:t>为什么不够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0302B"/>
                </a:solidFill>
                <a:latin typeface="微软雅黑"/>
              </a:rPr>
              <a:t>需要额外标注与训练成本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4791456"/>
            <a:ext cx="2651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8A929A"/>
                </a:solidFill>
                <a:latin typeface="微软雅黑"/>
              </a:rPr>
              <a:t>本作品做法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6B1E"/>
                </a:solidFill>
                <a:latin typeface="微软雅黑"/>
              </a:rPr>
              <a:t>图形化框选工具，标定一次长期复用　→　采食识别提升 24.3%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75488"/>
          </a:xfrm>
          <a:prstGeom prst="rect">
            <a:avLst/>
          </a:prstGeom>
          <a:solidFill>
            <a:srgbClr val="D96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29184"/>
            <a:ext cx="10058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42C52"/>
                </a:solidFill>
                <a:latin typeface="微软雅黑"/>
              </a:rPr>
              <a:t>实施路线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6B"/>
                </a:solidFill>
                <a:latin typeface="微软雅黑"/>
              </a:rPr>
              <a:t>六个阶段，每阶段有明确产出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26B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2764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A8B0B8"/>
                </a:solidFill>
                <a:latin typeface="微软雅黑"/>
              </a:rPr>
              <a:t>基于视觉行为感知的猪只疫病辅助诊断系统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1709928" cy="260604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1709928" cy="82296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560" y="2066543"/>
            <a:ext cx="612648" cy="61264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2852928"/>
            <a:ext cx="14538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5C99"/>
                </a:solidFill>
                <a:latin typeface="微软雅黑"/>
              </a:rPr>
              <a:t>检测器训练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3310128"/>
            <a:ext cx="14538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40464C"/>
                </a:solidFill>
                <a:latin typeface="微软雅黑"/>
              </a:rPr>
              <a:t>公开数据集 500 张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40464C"/>
                </a:solidFill>
                <a:latin typeface="微软雅黑"/>
              </a:rPr>
              <a:t>CPU 约 40 分钟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217420" y="2962656"/>
            <a:ext cx="141732" cy="274320"/>
          </a:xfrm>
          <a:prstGeom prst="rightArrow">
            <a:avLst/>
          </a:prstGeom>
          <a:solidFill>
            <a:srgbClr val="C5C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63724" y="1828800"/>
            <a:ext cx="1709928" cy="260604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3724" y="1828800"/>
            <a:ext cx="1709928" cy="82296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12364" y="2066543"/>
            <a:ext cx="612648" cy="612648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91740" y="2852928"/>
            <a:ext cx="14538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E7D4F"/>
                </a:solidFill>
                <a:latin typeface="微软雅黑"/>
              </a:rPr>
              <a:t>行为识别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91740" y="3310128"/>
            <a:ext cx="14538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40464C"/>
                </a:solidFill>
                <a:latin typeface="微软雅黑"/>
              </a:rPr>
              <a:t>六类行为判据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40464C"/>
                </a:solidFill>
                <a:latin typeface="微软雅黑"/>
              </a:rPr>
              <a:t>规则引擎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078224" y="2962656"/>
            <a:ext cx="141732" cy="274320"/>
          </a:xfrm>
          <a:prstGeom prst="rightArrow">
            <a:avLst/>
          </a:prstGeom>
          <a:solidFill>
            <a:srgbClr val="C5C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24528" y="1828800"/>
            <a:ext cx="1709928" cy="260604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24528" y="1828800"/>
            <a:ext cx="1709928" cy="82296"/>
          </a:xfrm>
          <a:prstGeom prst="rect">
            <a:avLst/>
          </a:prstGeom>
          <a:solidFill>
            <a:srgbClr val="D96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73168" y="2066543"/>
            <a:ext cx="612648" cy="612648"/>
          </a:xfrm>
          <a:prstGeom prst="ellipse">
            <a:avLst/>
          </a:prstGeom>
          <a:solidFill>
            <a:srgbClr val="D96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2544" y="2852928"/>
            <a:ext cx="14538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96B1E"/>
                </a:solidFill>
                <a:latin typeface="微软雅黑"/>
              </a:rPr>
              <a:t>标定工具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52544" y="3310128"/>
            <a:ext cx="14538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40464C"/>
                </a:solidFill>
                <a:latin typeface="微软雅黑"/>
              </a:rPr>
              <a:t>图形化框选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40464C"/>
                </a:solidFill>
                <a:latin typeface="微软雅黑"/>
              </a:rPr>
              <a:t>归一化坐标配置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939028" y="2962656"/>
            <a:ext cx="141732" cy="274320"/>
          </a:xfrm>
          <a:prstGeom prst="rightArrow">
            <a:avLst/>
          </a:prstGeom>
          <a:solidFill>
            <a:srgbClr val="C5C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85332" y="1828800"/>
            <a:ext cx="1709928" cy="260604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85332" y="1828800"/>
            <a:ext cx="1709928" cy="82296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3972" y="2066543"/>
            <a:ext cx="612648" cy="61264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3348" y="2852928"/>
            <a:ext cx="14538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5C99"/>
                </a:solidFill>
                <a:latin typeface="微软雅黑"/>
              </a:rPr>
              <a:t>疾病诊断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3348" y="3310128"/>
            <a:ext cx="14538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40464C"/>
                </a:solidFill>
                <a:latin typeface="微软雅黑"/>
              </a:rPr>
              <a:t>41 篇文献知识库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40464C"/>
                </a:solidFill>
                <a:latin typeface="微软雅黑"/>
              </a:rPr>
              <a:t>用药安全层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799832" y="2962656"/>
            <a:ext cx="141732" cy="274320"/>
          </a:xfrm>
          <a:prstGeom prst="rightArrow">
            <a:avLst/>
          </a:prstGeom>
          <a:solidFill>
            <a:srgbClr val="C5C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46136" y="1828800"/>
            <a:ext cx="1709928" cy="260604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46136" y="1828800"/>
            <a:ext cx="1709928" cy="82296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94776" y="2066543"/>
            <a:ext cx="612648" cy="612648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74152" y="2852928"/>
            <a:ext cx="14538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E7D4F"/>
                </a:solidFill>
                <a:latin typeface="微软雅黑"/>
              </a:rPr>
              <a:t>评测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74152" y="3310128"/>
            <a:ext cx="14538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40464C"/>
                </a:solidFill>
                <a:latin typeface="微软雅黑"/>
              </a:rPr>
              <a:t>合成场景 + 帧序列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40464C"/>
                </a:solidFill>
                <a:latin typeface="微软雅黑"/>
              </a:rPr>
              <a:t>+ 真实图片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9660636" y="2962656"/>
            <a:ext cx="141732" cy="274320"/>
          </a:xfrm>
          <a:prstGeom prst="rightArrow">
            <a:avLst/>
          </a:prstGeom>
          <a:solidFill>
            <a:srgbClr val="C5C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806940" y="1828800"/>
            <a:ext cx="1709928" cy="260604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06940" y="1828800"/>
            <a:ext cx="1709928" cy="82296"/>
          </a:xfrm>
          <a:prstGeom prst="rect">
            <a:avLst/>
          </a:prstGeom>
          <a:solidFill>
            <a:srgbClr val="D96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355580" y="2066543"/>
            <a:ext cx="612648" cy="612648"/>
          </a:xfrm>
          <a:prstGeom prst="ellipse">
            <a:avLst/>
          </a:prstGeom>
          <a:solidFill>
            <a:srgbClr val="D96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34956" y="2852928"/>
            <a:ext cx="14538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96B1E"/>
                </a:solidFill>
                <a:latin typeface="微软雅黑"/>
              </a:rPr>
              <a:t>材料整理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34956" y="3310128"/>
            <a:ext cx="14538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40464C"/>
                </a:solidFill>
                <a:latin typeface="微软雅黑"/>
              </a:rPr>
              <a:t>作品方案、PPT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40464C"/>
                </a:solidFill>
                <a:latin typeface="微软雅黑"/>
              </a:rPr>
              <a:t>代码与数据归档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4754880"/>
            <a:ext cx="11183112" cy="86868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4892040"/>
            <a:ext cx="105156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C52"/>
                </a:solidFill>
                <a:latin typeface="微软雅黑"/>
              </a:rPr>
              <a:t>S1 至 S5 的全部结果均保存在成果包 04_实验数据 目录，可逐项复现。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75488"/>
          </a:xfrm>
          <a:prstGeom prst="rect">
            <a:avLst/>
          </a:prstGeom>
          <a:solidFill>
            <a:srgbClr val="D96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29184"/>
            <a:ext cx="10058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42C52"/>
                </a:solidFill>
                <a:latin typeface="微软雅黑"/>
              </a:rPr>
              <a:t>检测器为什么必须自己训练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6B"/>
                </a:solidFill>
                <a:latin typeface="微软雅黑"/>
              </a:rPr>
              <a:t>通用检测器所用的 COCO 数据集，80 个类别中有鸟、猫、狗、马、羊、牛等，唯独没有猪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26B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2764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A8B0B8"/>
                </a:solidFill>
                <a:latin typeface="微软雅黑"/>
              </a:rPr>
              <a:t>基于视觉行为感知的猪只疫病辅助诊断系统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7276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C52"/>
                </a:solidFill>
                <a:latin typeface="微软雅黑"/>
              </a:rPr>
              <a:t>实测对比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048256"/>
            <a:ext cx="4892040" cy="841248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048256"/>
            <a:ext cx="73152" cy="841248"/>
          </a:xfrm>
          <a:prstGeom prst="rect">
            <a:avLst/>
          </a:prstGeom>
          <a:solidFill>
            <a:srgbClr val="C0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157984"/>
            <a:ext cx="4526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626B"/>
                </a:solidFill>
                <a:latin typeface="微软雅黑"/>
              </a:rPr>
              <a:t>通用预训练检测器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0302B"/>
                </a:solidFill>
                <a:latin typeface="微软雅黑"/>
              </a:rPr>
              <a:t>检出 8 个目标，判为 pig 的 0 个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999232"/>
            <a:ext cx="4892040" cy="841248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999232"/>
            <a:ext cx="73152" cy="841248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108960"/>
            <a:ext cx="4526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626B"/>
                </a:solidFill>
                <a:latin typeface="微软雅黑"/>
              </a:rPr>
              <a:t>自训单类检测器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E7D4F"/>
                </a:solidFill>
                <a:latin typeface="微软雅黑"/>
              </a:rPr>
              <a:t>检出 24 头，与人工标注 23 头一致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041648"/>
            <a:ext cx="4892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2C52"/>
                </a:solidFill>
                <a:latin typeface="微软雅黑"/>
              </a:rPr>
              <a:t>做法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0464C"/>
                </a:solidFill>
                <a:latin typeface="微软雅黑"/>
              </a:rPr>
              <a:t>以 COCO 预训练权重为起点，把检测头类别数由 80 改为 1，在公开猪只检测数据集 PigBench 上微调。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0464C"/>
                </a:solidFill>
                <a:latin typeface="微软雅黑"/>
              </a:rPr>
              <a:t>训练集 500 张，验证集 80 张，图像尺寸 640，批大小 8，共 15 轮，全程 CPU 约 40 分钟。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26B"/>
                </a:solidFill>
                <a:latin typeface="微软雅黑"/>
              </a:rPr>
              <a:t>此外发现：有开源仓库声称提供猪只检测权重，实测其检测头类别数仍为 80、训练数据声明为 COCO，实为通用模型改名。使用第三方权重前需核验这两项。</a:t>
            </a:r>
          </a:p>
        </p:txBody>
      </p:sp>
      <p:pic>
        <p:nvPicPr>
          <p:cNvPr id="15" name="Picture 14" descr="det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992" y="1627632"/>
            <a:ext cx="6035040" cy="20919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650992" y="3792684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26B"/>
                </a:solidFill>
                <a:latin typeface="微软雅黑"/>
              </a:rPr>
              <a:t>同一张猪舍照片的两种检测结果（真实模型输出，非示意）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75488"/>
          </a:xfrm>
          <a:prstGeom prst="rect">
            <a:avLst/>
          </a:prstGeom>
          <a:solidFill>
            <a:srgbClr val="D96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29184"/>
            <a:ext cx="10058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42C52"/>
                </a:solidFill>
                <a:latin typeface="微软雅黑"/>
              </a:rPr>
              <a:t>检测结果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6B"/>
                </a:solidFill>
                <a:latin typeface="微软雅黑"/>
              </a:rPr>
              <a:t>公开数据集 PigBench 测试集：80 张图 / 1730 个标注框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26B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2764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A8B0B8"/>
                </a:solidFill>
                <a:latin typeface="微软雅黑"/>
              </a:rPr>
              <a:t>基于视觉行为感知的猪只疫病辅助诊断系统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2697480" cy="137160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72768"/>
            <a:ext cx="2697480" cy="73152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A626B"/>
                </a:solidFill>
                <a:latin typeface="微软雅黑"/>
              </a:rPr>
              <a:t>mAP50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94560"/>
            <a:ext cx="26974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5C99"/>
                </a:solidFill>
                <a:latin typeface="微软雅黑"/>
              </a:rPr>
              <a:t>0.9395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2988" y="1572768"/>
            <a:ext cx="2697480" cy="137160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2988" y="1572768"/>
            <a:ext cx="2697480" cy="73152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2988" y="178308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A626B"/>
                </a:solidFill>
                <a:latin typeface="微软雅黑"/>
              </a:rPr>
              <a:t>mAP50-95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2988" y="2194560"/>
            <a:ext cx="26974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5C99"/>
                </a:solidFill>
                <a:latin typeface="微软雅黑"/>
              </a:rPr>
              <a:t>0.6724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3056" y="1572768"/>
            <a:ext cx="2697480" cy="137160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572768"/>
            <a:ext cx="2697480" cy="73152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3056" y="178308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A626B"/>
                </a:solidFill>
                <a:latin typeface="微软雅黑"/>
              </a:rPr>
              <a:t>Precision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056" y="2194560"/>
            <a:ext cx="26974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E7D4F"/>
                </a:solidFill>
                <a:latin typeface="微软雅黑"/>
              </a:rPr>
              <a:t>0.9551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93124" y="1572768"/>
            <a:ext cx="2697480" cy="137160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93124" y="1572768"/>
            <a:ext cx="2697480" cy="73152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93124" y="178308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A626B"/>
                </a:solidFill>
                <a:latin typeface="微软雅黑"/>
              </a:rPr>
              <a:t>Recall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93124" y="2194560"/>
            <a:ext cx="26974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E7D4F"/>
                </a:solidFill>
                <a:latin typeface="微软雅黑"/>
              </a:rPr>
              <a:t>0.8607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02920" y="3200400"/>
          <a:ext cx="1118311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626"/>
                <a:gridCol w="3483264"/>
                <a:gridCol w="568322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项目</a:t>
                      </a:r>
                    </a:p>
                  </a:txBody>
                  <a:tcPr marL="54864" marR="54864" marT="18288" marB="18288" anchor="ctr">
                    <a:solidFill>
                      <a:srgbClr val="14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数值</a:t>
                      </a:r>
                    </a:p>
                  </a:txBody>
                  <a:tcPr marL="54864" marR="54864" marT="18288" marB="18288" anchor="ctr">
                    <a:solidFill>
                      <a:srgbClr val="14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说明</a:t>
                      </a:r>
                    </a:p>
                  </a:txBody>
                  <a:tcPr marL="54864" marR="54864" marT="18288" marB="18288" anchor="ctr">
                    <a:solidFill>
                      <a:srgbClr val="142C5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A3036"/>
                          </a:solidFill>
                          <a:latin typeface="微软雅黑"/>
                        </a:rPr>
                        <a:t>推理速度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A3036"/>
                          </a:solidFill>
                          <a:latin typeface="微软雅黑"/>
                        </a:rPr>
                        <a:t>37 毫秒 / 张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A3036"/>
                          </a:solidFill>
                          <a:latin typeface="微软雅黑"/>
                        </a:rPr>
                        <a:t>纯 CPU（14 线程），无需独立显卡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A3036"/>
                          </a:solidFill>
                          <a:latin typeface="微软雅黑"/>
                        </a:rPr>
                        <a:t>模型体积</a:t>
                      </a:r>
                    </a:p>
                  </a:txBody>
                  <a:tcPr marL="54864" marR="54864" marT="18288" marB="18288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A3036"/>
                          </a:solidFill>
                          <a:latin typeface="微软雅黑"/>
                        </a:rPr>
                        <a:t>5.94 MB（.pt）／ 11.70 MB（.onnx）</a:t>
                      </a:r>
                    </a:p>
                  </a:txBody>
                  <a:tcPr marL="54864" marR="54864" marT="18288" marB="18288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A3036"/>
                          </a:solidFill>
                          <a:latin typeface="微软雅黑"/>
                        </a:rPr>
                        <a:t>同时提供可加载与可脱离框架部署两种格式</a:t>
                      </a:r>
                    </a:p>
                  </a:txBody>
                  <a:tcPr marL="54864" marR="54864" marT="18288" marB="18288" anchor="ctr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A3036"/>
                          </a:solidFill>
                          <a:latin typeface="微软雅黑"/>
                        </a:rPr>
                        <a:t>训练轮次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A3036"/>
                          </a:solidFill>
                          <a:latin typeface="微软雅黑"/>
                        </a:rPr>
                        <a:t>15 轮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A3036"/>
                          </a:solidFill>
                          <a:latin typeface="微软雅黑"/>
                        </a:rPr>
                        <a:t>mAP50 由第 1 轮 0.832 升至第 15 轮，三项损失单调下降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02920" y="598932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D96B1E"/>
                </a:solidFill>
                <a:latin typeface="微软雅黑"/>
              </a:rPr>
              <a:t>以上为公开数据集上的真实指标，可用成果包中的评测脚本复现。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75488"/>
          </a:xfrm>
          <a:prstGeom prst="rect">
            <a:avLst/>
          </a:prstGeom>
          <a:solidFill>
            <a:srgbClr val="D96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29184"/>
            <a:ext cx="10058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42C52"/>
                </a:solidFill>
                <a:latin typeface="微软雅黑"/>
              </a:rPr>
              <a:t>行为为什么不能由检测器直接输出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6B"/>
                </a:solidFill>
                <a:latin typeface="微软雅黑"/>
              </a:rPr>
              <a:t>行为属于时序动作，不是物体的静态属性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26B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2764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A8B0B8"/>
                </a:solidFill>
                <a:latin typeface="微软雅黑"/>
              </a:rPr>
              <a:t>基于视觉行为感知的猪只疫病辅助诊断系统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36192"/>
            <a:ext cx="11183112" cy="105156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64208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42C52"/>
                </a:solidFill>
                <a:latin typeface="微软雅黑"/>
              </a:rPr>
              <a:t>低头可能是采食，也可能是嗅探；「争斗」与「并排休息」在单帧上非常相似；「行走」必须依靠连续帧的位移才能判断。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6B"/>
                </a:solidFill>
                <a:latin typeface="微软雅黑"/>
              </a:rPr>
              <a:t>因此本作品把行为拆成两部分：设施锚定（空间）+ 位移与面积变化（时序），每条判定都给出所依据的特征与阈值。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2788920"/>
          <a:ext cx="11183112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9456"/>
                <a:gridCol w="6340032"/>
                <a:gridCol w="2553624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行为</a:t>
                      </a:r>
                    </a:p>
                  </a:txBody>
                  <a:tcPr marL="54864" marR="54864" marT="18288" marB="18288" anchor="ctr">
                    <a:solidFill>
                      <a:srgbClr val="14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判据</a:t>
                      </a:r>
                    </a:p>
                  </a:txBody>
                  <a:tcPr marL="54864" marR="54864" marT="18288" marB="18288" anchor="ctr">
                    <a:solidFill>
                      <a:srgbClr val="14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证据类型</a:t>
                      </a:r>
                    </a:p>
                  </a:txBody>
                  <a:tcPr marL="54864" marR="54864" marT="18288" marB="18288" anchor="ctr">
                    <a:solidFill>
                      <a:srgbClr val="142C5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A3036"/>
                          </a:solidFill>
                          <a:latin typeface="微软雅黑"/>
                        </a:rPr>
                        <a:t>采食 / 饮水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A3036"/>
                          </a:solidFill>
                          <a:latin typeface="微软雅黑"/>
                        </a:rPr>
                        <a:t>目标框与食槽、饮水器区域的重叠比例 ≥ 0.35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A3036"/>
                          </a:solidFill>
                          <a:latin typeface="微软雅黑"/>
                        </a:rPr>
                        <a:t>设施锚定（空间）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A3036"/>
                          </a:solidFill>
                          <a:latin typeface="微软雅黑"/>
                        </a:rPr>
                        <a:t>争斗</a:t>
                      </a:r>
                    </a:p>
                  </a:txBody>
                  <a:tcPr marL="54864" marR="54864" marT="18288" marB="18288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A3036"/>
                          </a:solidFill>
                          <a:latin typeface="微软雅黑"/>
                        </a:rPr>
                        <a:t>静态图：IoU ≥ 0.35　视频：IoU ≥ 0.15 且双方均有位移</a:t>
                      </a:r>
                    </a:p>
                  </a:txBody>
                  <a:tcPr marL="54864" marR="54864" marT="18288" marB="18288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A3036"/>
                          </a:solidFill>
                          <a:latin typeface="微软雅黑"/>
                        </a:rPr>
                        <a:t>时空联合（双阈值）</a:t>
                      </a:r>
                    </a:p>
                  </a:txBody>
                  <a:tcPr marL="54864" marR="54864" marT="18288" marB="18288" anchor="ctr">
                    <a:solidFill>
                      <a:srgbClr val="F2F4F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A3036"/>
                          </a:solidFill>
                          <a:latin typeface="微软雅黑"/>
                        </a:rPr>
                        <a:t>行走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A3036"/>
                          </a:solidFill>
                          <a:latin typeface="微软雅黑"/>
                        </a:rPr>
                        <a:t>相邻帧归一化位移 ≥ 0.012，或时间窗累计位移 ≥ 0.05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A3036"/>
                          </a:solidFill>
                          <a:latin typeface="微软雅黑"/>
                        </a:rPr>
                        <a:t>时序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A3036"/>
                          </a:solidFill>
                          <a:latin typeface="微软雅黑"/>
                        </a:rPr>
                        <a:t>休息 / 站立</a:t>
                      </a:r>
                    </a:p>
                  </a:txBody>
                  <a:tcPr marL="54864" marR="54864" marT="18288" marB="18288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A3036"/>
                          </a:solidFill>
                          <a:latin typeface="微软雅黑"/>
                        </a:rPr>
                        <a:t>框面积相对缩小 ≥ 15% 判为卧倒，否则判为站立</a:t>
                      </a:r>
                    </a:p>
                  </a:txBody>
                  <a:tcPr marL="54864" marR="54864" marT="18288" marB="18288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A3036"/>
                          </a:solidFill>
                          <a:latin typeface="微软雅黑"/>
                        </a:rPr>
                        <a:t>姿态（时序）</a:t>
                      </a:r>
                    </a:p>
                  </a:txBody>
                  <a:tcPr marL="54864" marR="54864" marT="18288" marB="18288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598932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D96B1E"/>
                </a:solidFill>
                <a:latin typeface="微软雅黑"/>
              </a:rPr>
              <a:t>实现中有三处判据经过调整，详见第 10 页。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75488"/>
          </a:xfrm>
          <a:prstGeom prst="rect">
            <a:avLst/>
          </a:prstGeom>
          <a:solidFill>
            <a:srgbClr val="D96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29184"/>
            <a:ext cx="10058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42C52"/>
                </a:solidFill>
                <a:latin typeface="微软雅黑"/>
              </a:rPr>
              <a:t>三处判据经过调整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6B"/>
                </a:solidFill>
                <a:latin typeface="微软雅黑"/>
              </a:rPr>
              <a:t>这些问题是实际跑数据时暴露出来的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26B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2764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A8B0B8"/>
                </a:solidFill>
                <a:latin typeface="微软雅黑"/>
              </a:rPr>
              <a:t>基于视觉行为感知的猪只疫病辅助诊断系统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36192"/>
            <a:ext cx="11183112" cy="146304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36192"/>
            <a:ext cx="82296" cy="146304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00784"/>
            <a:ext cx="10698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5C99"/>
                </a:solidFill>
                <a:latin typeface="微软雅黑"/>
              </a:rPr>
              <a:t>设施锚定优先于框重叠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40464C"/>
                </a:solidFill>
                <a:latin typeface="微软雅黑"/>
              </a:rPr>
              <a:t>问题：最初把「争斗」排在「采食」之前，结果多头同时采食时，因目标框相邻重叠被全部判成争斗。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2C52"/>
                </a:solidFill>
                <a:latin typeface="微软雅黑"/>
              </a:rPr>
              <a:t>调整：设施锚定有明确的空间锚点，可信度高于框重叠，因此调整优先级。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108960"/>
            <a:ext cx="11183112" cy="146304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108960"/>
            <a:ext cx="82296" cy="146304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73552"/>
            <a:ext cx="10698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E7D4F"/>
                </a:solidFill>
                <a:latin typeface="微软雅黑"/>
              </a:rPr>
              <a:t>姿态变化优先于运动判据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40464C"/>
                </a:solidFill>
                <a:latin typeface="微软雅黑"/>
              </a:rPr>
              <a:t>问题：猪由站立转为卧倒时，框面积明显缩小但位移很小，先判断运动会被误判为「站立」。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2C52"/>
                </a:solidFill>
                <a:latin typeface="微软雅黑"/>
              </a:rPr>
              <a:t>调整：改为优先比较面积变化，再判断位移。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681728"/>
            <a:ext cx="11183112" cy="146304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4681728"/>
            <a:ext cx="82296" cy="1463040"/>
          </a:xfrm>
          <a:prstGeom prst="rect">
            <a:avLst/>
          </a:prstGeom>
          <a:solidFill>
            <a:srgbClr val="D96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846320"/>
            <a:ext cx="10698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96B1E"/>
                </a:solidFill>
                <a:latin typeface="微软雅黑"/>
              </a:rPr>
              <a:t>争斗采用双阈值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40464C"/>
                </a:solidFill>
                <a:latin typeface="微软雅黑"/>
              </a:rPr>
              <a:t>问题：实测真实争斗的 IoU 约 0.17，密集采食时的正常重叠约 0.15 至 0.32，两者分布本身重叠，单一阈值无法分开。阈值取 0.12 时争斗占比达 20.3%，远超猪群实际水平；取 0.35 时会漏检真实争斗。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2C52"/>
                </a:solidFill>
                <a:latin typeface="微软雅黑"/>
              </a:rPr>
              <a:t>调整：静态图用保守阈值 0.35；视频放宽到 0.15，并要求双方均有位移作为额外验证。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75488"/>
          </a:xfrm>
          <a:prstGeom prst="rect">
            <a:avLst/>
          </a:prstGeom>
          <a:solidFill>
            <a:srgbClr val="D96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29184"/>
            <a:ext cx="10058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42C52"/>
                </a:solidFill>
                <a:latin typeface="微软雅黑"/>
              </a:rPr>
              <a:t>行为识别结果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26B"/>
                </a:solidFill>
                <a:latin typeface="微软雅黑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2764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A8B0B8"/>
                </a:solidFill>
                <a:latin typeface="微软雅黑"/>
              </a:rPr>
              <a:t>基于视觉行为感知的猪只疫病辅助诊断系统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5440680" cy="228600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5440680" cy="73152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5C99"/>
                </a:solidFill>
                <a:latin typeface="微软雅黑"/>
              </a:rPr>
              <a:t>单帧行为分类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228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F5C99"/>
                </a:solidFill>
                <a:latin typeface="微软雅黑"/>
              </a:rPr>
              <a:t>21 / 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286000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42C52"/>
                </a:solidFill>
                <a:latin typeface="微软雅黑"/>
              </a:rPr>
              <a:t>准确率 100%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6B"/>
                </a:solidFill>
                <a:latin typeface="微软雅黑"/>
              </a:rPr>
              <a:t>宏平均 F1 = 1.000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99232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0464C"/>
                </a:solidFill>
                <a:latin typeface="微软雅黑"/>
              </a:rPr>
              <a:t>六个场景：全群采食、混合行为、争斗重叠、高密度拥挤、空栏负样本、有人作业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5352" y="1481328"/>
            <a:ext cx="5440680" cy="228600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5352" y="1481328"/>
            <a:ext cx="5440680" cy="73152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1719072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E7D4F"/>
                </a:solidFill>
                <a:latin typeface="微软雅黑"/>
              </a:rPr>
              <a:t>时序行为判定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2212848"/>
            <a:ext cx="228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E7D4F"/>
                </a:solidFill>
                <a:latin typeface="微软雅黑"/>
              </a:rPr>
              <a:t>7 /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1392" y="2286000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42C52"/>
                </a:solidFill>
                <a:latin typeface="微软雅黑"/>
              </a:rPr>
              <a:t>准确率 100%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6B"/>
                </a:solidFill>
                <a:latin typeface="微软雅黑"/>
              </a:rPr>
              <a:t>5 个序列 / 7 个检查点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2999232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0464C"/>
                </a:solidFill>
                <a:latin typeface="微软雅黑"/>
              </a:rPr>
              <a:t>静止站立、匀速行走、站立转卧倒、持续争斗、采食后离开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977639"/>
            <a:ext cx="11183112" cy="1005840"/>
          </a:xfrm>
          <a:prstGeom prst="rect">
            <a:avLst/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977639"/>
            <a:ext cx="82296" cy="1005840"/>
          </a:xfrm>
          <a:prstGeom prst="rect">
            <a:avLst/>
          </a:prstGeom>
          <a:solidFill>
            <a:srgbClr val="D96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114800"/>
            <a:ext cx="10515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D96B1E"/>
                </a:solidFill>
                <a:latin typeface="微软雅黑"/>
              </a:rPr>
              <a:t>数据性质说明：以上两项指标来自合成场景与合成帧序列，作用是验证规则逻辑是否正确，不代表真实场景下的行为识别精度。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26B"/>
                </a:solidFill>
                <a:latin typeface="微软雅黑"/>
              </a:rPr>
              <a:t>真实行为精度需要人工标注真实视频片段后才能给出，已列入近期计划。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8932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D96B1E"/>
                </a:solidFill>
                <a:latin typeface="微软雅黑"/>
              </a:rPr>
              <a:t>数据来源：eval_behavior_synthetic.json / eval_temporal_synthetic.json（合成数据）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75488"/>
          </a:xfrm>
          <a:prstGeom prst="rect">
            <a:avLst/>
          </a:prstGeom>
          <a:solidFill>
            <a:srgbClr val="D96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29184"/>
            <a:ext cx="10058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42C52"/>
                </a:solidFill>
                <a:latin typeface="微软雅黑"/>
              </a:rPr>
              <a:t>设施区域标定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6B"/>
                </a:solidFill>
                <a:latin typeface="微软雅黑"/>
              </a:rPr>
              <a:t>食槽与饮水器的位置，是采食、饮水两个行为的空间锚点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26B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2764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A8B0B8"/>
                </a:solidFill>
                <a:latin typeface="微软雅黑"/>
              </a:rPr>
              <a:t>基于视觉行为感知的猪只疫病辅助诊断系统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73936"/>
          <a:ext cx="67665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8730"/>
                <a:gridCol w="2199132"/>
                <a:gridCol w="2029968"/>
                <a:gridCol w="126873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行为</a:t>
                      </a:r>
                    </a:p>
                  </a:txBody>
                  <a:tcPr marL="54864" marR="54864" marT="18288" marB="18288" anchor="ctr">
                    <a:solidFill>
                      <a:srgbClr val="14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标定前（布局先验推断）</a:t>
                      </a:r>
                    </a:p>
                  </a:txBody>
                  <a:tcPr marL="54864" marR="54864" marT="18288" marB="18288" anchor="ctr">
                    <a:solidFill>
                      <a:srgbClr val="14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标定后（人工框选）</a:t>
                      </a:r>
                    </a:p>
                  </a:txBody>
                  <a:tcPr marL="54864" marR="54864" marT="18288" marB="18288" anchor="ctr">
                    <a:solidFill>
                      <a:srgbClr val="142C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变化</a:t>
                      </a:r>
                    </a:p>
                  </a:txBody>
                  <a:tcPr marL="54864" marR="54864" marT="18288" marB="18288" anchor="ctr">
                    <a:solidFill>
                      <a:srgbClr val="142C5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A3036"/>
                          </a:solidFill>
                          <a:latin typeface="微软雅黑"/>
                        </a:rPr>
                        <a:t>采食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A3036"/>
                          </a:solidFill>
                          <a:latin typeface="微软雅黑"/>
                        </a:rPr>
                        <a:t>7.9%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A3036"/>
                          </a:solidFill>
                          <a:latin typeface="微软雅黑"/>
                        </a:rPr>
                        <a:t>32.2%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A3036"/>
                          </a:solidFill>
                          <a:latin typeface="微软雅黑"/>
                        </a:rPr>
                        <a:t>+24.3%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A3036"/>
                          </a:solidFill>
                          <a:latin typeface="微软雅黑"/>
                        </a:rPr>
                        <a:t>争斗</a:t>
                      </a:r>
                    </a:p>
                  </a:txBody>
                  <a:tcPr marL="54864" marR="54864" marT="18288" marB="18288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A3036"/>
                          </a:solidFill>
                          <a:latin typeface="微软雅黑"/>
                        </a:rPr>
                        <a:t>4.6%</a:t>
                      </a:r>
                    </a:p>
                  </a:txBody>
                  <a:tcPr marL="54864" marR="54864" marT="18288" marB="18288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A3036"/>
                          </a:solidFill>
                          <a:latin typeface="微软雅黑"/>
                        </a:rPr>
                        <a:t>1.3%</a:t>
                      </a:r>
                    </a:p>
                  </a:txBody>
                  <a:tcPr marL="54864" marR="54864" marT="18288" marB="18288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A3036"/>
                          </a:solidFill>
                          <a:latin typeface="微软雅黑"/>
                        </a:rPr>
                        <a:t>-3.3%</a:t>
                      </a:r>
                    </a:p>
                  </a:txBody>
                  <a:tcPr marL="54864" marR="54864" marT="18288" marB="18288" anchor="ctr">
                    <a:solidFill>
                      <a:srgbClr val="F2F4F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A3036"/>
                          </a:solidFill>
                          <a:latin typeface="微软雅黑"/>
                        </a:rPr>
                        <a:t>饮水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A3036"/>
                          </a:solidFill>
                          <a:latin typeface="微软雅黑"/>
                        </a:rPr>
                        <a:t>13.2%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A3036"/>
                          </a:solidFill>
                          <a:latin typeface="微软雅黑"/>
                        </a:rPr>
                        <a:t>9.2%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A3036"/>
                          </a:solidFill>
                          <a:latin typeface="微软雅黑"/>
                        </a:rPr>
                        <a:t>-4.0%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A3036"/>
                          </a:solidFill>
                          <a:latin typeface="微软雅黑"/>
                        </a:rPr>
                        <a:t>站立</a:t>
                      </a:r>
                    </a:p>
                  </a:txBody>
                  <a:tcPr marL="54864" marR="54864" marT="18288" marB="18288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A3036"/>
                          </a:solidFill>
                          <a:latin typeface="微软雅黑"/>
                        </a:rPr>
                        <a:t>66.4%</a:t>
                      </a:r>
                    </a:p>
                  </a:txBody>
                  <a:tcPr marL="54864" marR="54864" marT="18288" marB="18288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A3036"/>
                          </a:solidFill>
                          <a:latin typeface="微软雅黑"/>
                        </a:rPr>
                        <a:t>51.3%</a:t>
                      </a:r>
                    </a:p>
                  </a:txBody>
                  <a:tcPr marL="54864" marR="54864" marT="18288" marB="18288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2A3036"/>
                          </a:solidFill>
                          <a:latin typeface="微软雅黑"/>
                        </a:rPr>
                        <a:t>-15.1%</a:t>
                      </a:r>
                    </a:p>
                  </a:txBody>
                  <a:tcPr marL="54864" marR="54864" marT="18288" marB="18288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543800" y="1773936"/>
            <a:ext cx="4142232" cy="2377440"/>
          </a:xfrm>
          <a:prstGeom prst="rect">
            <a:avLst/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43800" y="1773936"/>
            <a:ext cx="4142232" cy="73152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90688" y="1975104"/>
            <a:ext cx="3657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7D4F"/>
                </a:solidFill>
                <a:latin typeface="微软雅黑"/>
              </a:rPr>
              <a:t>标定工具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3940"/>
                </a:solidFill>
                <a:latin typeface="微软雅黑"/>
              </a:rPr>
              <a:t>· 在照片上拖拽框选食槽、饮水器、保温区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3940"/>
                </a:solidFill>
                <a:latin typeface="微软雅黑"/>
              </a:rPr>
              <a:t>· 导出归一化坐标（0~1）配置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3940"/>
                </a:solidFill>
                <a:latin typeface="微软雅黑"/>
              </a:rPr>
              <a:t>· 同一份配置可跨分辨率复用，换相机不会错位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333940"/>
                </a:solidFill>
                <a:latin typeface="微软雅黑"/>
              </a:rPr>
              <a:t>· 程序自动查找并应用配置，无需手动指定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370832"/>
            <a:ext cx="11183112" cy="109728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4370832"/>
            <a:ext cx="82296" cy="109728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498848"/>
            <a:ext cx="10515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42C52"/>
                </a:solidFill>
                <a:latin typeface="微软雅黑"/>
              </a:rPr>
              <a:t>对比方式：8 张真实猪舍图片、152 个目标，使用同一份检测结果，只切换区域来源。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26B"/>
                </a:solidFill>
                <a:latin typeface="微软雅黑"/>
              </a:rPr>
              <a:t>这是行为部分唯一来自真实猪舍图片的数据，也是方案可落地性的直接证据。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98932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D96B1E"/>
                </a:solidFill>
                <a:latin typeface="微软雅黑"/>
              </a:rPr>
              <a:t>数据来源：region_calibration_effect.json（真实猪舍图片）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75488"/>
          </a:xfrm>
          <a:prstGeom prst="rect">
            <a:avLst/>
          </a:prstGeom>
          <a:solidFill>
            <a:srgbClr val="D96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29184"/>
            <a:ext cx="10058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42C52"/>
                </a:solidFill>
                <a:latin typeface="微软雅黑"/>
              </a:rPr>
              <a:t>用药安全层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6B"/>
                </a:solidFill>
                <a:latin typeface="微软雅黑"/>
              </a:rPr>
              <a:t>安全底线独立于诊断推理，不交给概率模型判断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26B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2764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A8B0B8"/>
                </a:solidFill>
                <a:latin typeface="微软雅黑"/>
              </a:rPr>
              <a:t>基于视觉行为感知的猪只疫病辅助诊断系统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7040880" cy="1207008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82296" cy="1207008"/>
          </a:xfrm>
          <a:prstGeom prst="rect">
            <a:avLst/>
          </a:prstGeom>
          <a:solidFill>
            <a:srgbClr val="C0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700784"/>
            <a:ext cx="6583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C0302B"/>
                </a:solidFill>
                <a:latin typeface="微软雅黑"/>
              </a:rPr>
              <a:t>1. 禁用药物扫描与阻断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0464C"/>
                </a:solidFill>
                <a:latin typeface="微软雅黑"/>
              </a:rPr>
              <a:t>扫描用户原始输入中的禁用药物名称，命中即阻断输出，不依赖知识库检索结果。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871216"/>
            <a:ext cx="7040880" cy="1207008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871216"/>
            <a:ext cx="82296" cy="1207008"/>
          </a:xfrm>
          <a:prstGeom prst="rect">
            <a:avLst/>
          </a:prstGeom>
          <a:solidFill>
            <a:srgbClr val="C0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17520"/>
            <a:ext cx="6583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C0302B"/>
                </a:solidFill>
                <a:latin typeface="微软雅黑"/>
              </a:rPr>
              <a:t>2. 强制休药期核对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0464C"/>
                </a:solidFill>
                <a:latin typeface="微软雅黑"/>
              </a:rPr>
              <a:t>任何用药建议都必须附带休药期核对要求，提示以标签说明书与官方公告为准。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187952"/>
            <a:ext cx="7040880" cy="1207008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4187952"/>
            <a:ext cx="82296" cy="1207008"/>
          </a:xfrm>
          <a:prstGeom prst="rect">
            <a:avLst/>
          </a:prstGeom>
          <a:solidFill>
            <a:srgbClr val="C0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4334256"/>
            <a:ext cx="6583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C0302B"/>
                </a:solidFill>
                <a:latin typeface="微软雅黑"/>
              </a:rPr>
              <a:t>3. 证据不足时降级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0464C"/>
                </a:solidFill>
                <a:latin typeface="微软雅黑"/>
              </a:rPr>
              <a:t>当症状证据不足以支持判断时，只提示方向，不给出具体用药建议。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0" y="1554480"/>
            <a:ext cx="3867912" cy="3694176"/>
          </a:xfrm>
          <a:prstGeom prst="rect">
            <a:avLst/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18120" y="1554480"/>
            <a:ext cx="3867912" cy="73152"/>
          </a:xfrm>
          <a:prstGeom prst="rect">
            <a:avLst/>
          </a:prstGeom>
          <a:solidFill>
            <a:srgbClr val="D96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65008" y="1773936"/>
            <a:ext cx="33832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6B1E"/>
                </a:solidFill>
                <a:latin typeface="微软雅黑"/>
              </a:rPr>
              <a:t>拦截测试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D96B1E"/>
                </a:solidFill>
                <a:latin typeface="微软雅黑"/>
              </a:rPr>
              <a:t>4 / 4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0">
                <a:solidFill>
                  <a:srgbClr val="40464C"/>
                </a:solidFill>
                <a:latin typeface="微软雅黑"/>
              </a:rPr>
              <a:t>构造含禁用药物的输入，全部被正确拦截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26B"/>
                </a:solidFill>
                <a:latin typeface="微软雅黑"/>
              </a:rPr>
              <a:t>禁用药物清单依据农业农村部相关公告整理。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98932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D96B1E"/>
                </a:solidFill>
                <a:latin typeface="微软雅黑"/>
              </a:rPr>
              <a:t>数据来源：eval_results.json（安全层拦截测试）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75488"/>
          </a:xfrm>
          <a:prstGeom prst="rect">
            <a:avLst/>
          </a:prstGeom>
          <a:solidFill>
            <a:srgbClr val="D96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29184"/>
            <a:ext cx="10058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42C52"/>
                </a:solidFill>
                <a:latin typeface="微软雅黑"/>
              </a:rPr>
              <a:t>疾病辅助诊断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26B"/>
                </a:solidFill>
                <a:latin typeface="微软雅黑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2764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A8B0B8"/>
                </a:solidFill>
                <a:latin typeface="微软雅黑"/>
              </a:rPr>
              <a:t>基于视觉行为感知的猪只疫病辅助诊断系统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4114800" cy="3749039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4114800" cy="73152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0784"/>
            <a:ext cx="356616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1F5C99"/>
                </a:solidFill>
                <a:latin typeface="微软雅黑"/>
              </a:rPr>
              <a:t>知识库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5A626B"/>
                </a:solidFill>
                <a:latin typeface="微软雅黑"/>
              </a:rPr>
              <a:t>文献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>
                <a:solidFill>
                  <a:srgbClr val="142C52"/>
                </a:solidFill>
                <a:latin typeface="微软雅黑"/>
              </a:rPr>
              <a:t>41 篇中文养猪文献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5A626B"/>
                </a:solidFill>
                <a:latin typeface="微软雅黑"/>
              </a:rPr>
              <a:t>疾病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>
                <a:solidFill>
                  <a:srgbClr val="142C52"/>
                </a:solidFill>
                <a:latin typeface="微软雅黑"/>
              </a:rPr>
              <a:t>21 种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5A626B"/>
                </a:solidFill>
                <a:latin typeface="微软雅黑"/>
              </a:rPr>
              <a:t>症状关联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>
                <a:solidFill>
                  <a:srgbClr val="142C52"/>
                </a:solidFill>
                <a:latin typeface="微软雅黑"/>
              </a:rPr>
              <a:t>211 条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0464C"/>
                </a:solidFill>
                <a:latin typeface="微软雅黑"/>
              </a:rPr>
              <a:t>每条症状关联均保留原文出处（文献编号、期刊年份、原句）以便核对。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1481328"/>
            <a:ext cx="2212848" cy="123444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2040" y="1481328"/>
            <a:ext cx="2212848" cy="73152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664208"/>
            <a:ext cx="2212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26B"/>
                </a:solidFill>
                <a:latin typeface="微软雅黑"/>
              </a:rPr>
              <a:t>Top-1 命中率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029968"/>
            <a:ext cx="22128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E7D4F"/>
                </a:solidFill>
                <a:latin typeface="微软雅黑"/>
              </a:rPr>
              <a:t>40.0%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83196" y="1481328"/>
            <a:ext cx="2212848" cy="123444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83196" y="1481328"/>
            <a:ext cx="2212848" cy="73152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83196" y="1664208"/>
            <a:ext cx="2212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26B"/>
                </a:solidFill>
                <a:latin typeface="微软雅黑"/>
              </a:rPr>
              <a:t>Top-3 命中率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3196" y="2029968"/>
            <a:ext cx="22128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E7D4F"/>
                </a:solidFill>
                <a:latin typeface="微软雅黑"/>
              </a:rPr>
              <a:t>80.0%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74352" y="1481328"/>
            <a:ext cx="2212848" cy="123444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74352" y="1481328"/>
            <a:ext cx="2212848" cy="73152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74352" y="1664208"/>
            <a:ext cx="2212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26B"/>
                </a:solidFill>
                <a:latin typeface="微软雅黑"/>
              </a:rPr>
              <a:t>MRR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74352" y="2029968"/>
            <a:ext cx="22128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E7D4F"/>
                </a:solidFill>
                <a:latin typeface="微软雅黑"/>
              </a:rPr>
              <a:t>0.580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92040" y="2871216"/>
            <a:ext cx="6793992" cy="2359152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92040" y="2871216"/>
            <a:ext cx="6793992" cy="73152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6360" y="3090672"/>
            <a:ext cx="6309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42C52"/>
                </a:solidFill>
                <a:latin typeface="微软雅黑"/>
              </a:rPr>
              <a:t>分层分析：瓶颈在知识库覆盖，不在算法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33940"/>
                </a:solidFill>
                <a:latin typeface="微软雅黑"/>
              </a:rPr>
              <a:t>· 知识库证据充分的 11 个病例，Top-3 命中率 81.8%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333940"/>
                </a:solidFill>
                <a:latin typeface="微软雅黑"/>
              </a:rPr>
              <a:t>· 缺少专论文献的 4 个病例，Top-3 命中率 75.0%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26B"/>
                </a:solidFill>
                <a:latin typeface="微软雅黑"/>
              </a:rPr>
              <a:t>说明：后续补充专论文献即可提升命中率，这是可预期的改进路径。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98932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D96B1E"/>
                </a:solidFill>
                <a:latin typeface="微软雅黑"/>
              </a:rPr>
              <a:t>数据来源：eval_results.json（15 个自建评测用例）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75488"/>
          </a:xfrm>
          <a:prstGeom prst="rect">
            <a:avLst/>
          </a:prstGeom>
          <a:solidFill>
            <a:srgbClr val="D96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29184"/>
            <a:ext cx="10058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42C52"/>
                </a:solidFill>
                <a:latin typeface="微软雅黑"/>
              </a:rPr>
              <a:t>不足与改进方向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26B"/>
                </a:solidFill>
                <a:latin typeface="微软雅黑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2764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A8B0B8"/>
                </a:solidFill>
                <a:latin typeface="微软雅黑"/>
              </a:rPr>
              <a:t>基于视觉行为感知的猪只疫病辅助诊断系统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17904"/>
            <a:ext cx="11183112" cy="1060704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17904"/>
            <a:ext cx="82296" cy="1060704"/>
          </a:xfrm>
          <a:prstGeom prst="rect">
            <a:avLst/>
          </a:prstGeom>
          <a:solidFill>
            <a:srgbClr val="C0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36776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C0302B"/>
                </a:solidFill>
                <a:latin typeface="微软雅黑"/>
              </a:rPr>
              <a:t>行为评测以合成数据为主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6B"/>
                </a:solidFill>
                <a:latin typeface="微软雅黑"/>
              </a:rPr>
              <a:t>不代表真实场景精度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742432" y="1883664"/>
            <a:ext cx="384048" cy="329184"/>
          </a:xfrm>
          <a:prstGeom prst="rightArrow">
            <a:avLst/>
          </a:prstGeom>
          <a:solidFill>
            <a:srgbClr val="B8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636776"/>
            <a:ext cx="52120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E7D4F"/>
                </a:solidFill>
                <a:latin typeface="微软雅黑"/>
              </a:rPr>
              <a:t>近期采集真实猪舍视频，人工标注行为片段，建立真实评测集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688336"/>
            <a:ext cx="11183112" cy="1060704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688336"/>
            <a:ext cx="82296" cy="1060704"/>
          </a:xfrm>
          <a:prstGeom prst="rect">
            <a:avLst/>
          </a:prstGeom>
          <a:solidFill>
            <a:srgbClr val="C0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807208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C0302B"/>
                </a:solidFill>
                <a:latin typeface="微软雅黑"/>
              </a:rPr>
              <a:t>设施区域需要人工标定一次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6B"/>
                </a:solidFill>
                <a:latin typeface="微软雅黑"/>
              </a:rPr>
              <a:t>尚未做到全自动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742432" y="3054096"/>
            <a:ext cx="384048" cy="329184"/>
          </a:xfrm>
          <a:prstGeom prst="rightArrow">
            <a:avLst/>
          </a:prstGeom>
          <a:solidFill>
            <a:srgbClr val="B8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807208"/>
            <a:ext cx="52120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E7D4F"/>
                </a:solidFill>
                <a:latin typeface="微软雅黑"/>
              </a:rPr>
              <a:t>探索半自动标定，并提供典型栏舍的配置模板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858768"/>
            <a:ext cx="11183112" cy="1060704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858768"/>
            <a:ext cx="82296" cy="1060704"/>
          </a:xfrm>
          <a:prstGeom prst="rect">
            <a:avLst/>
          </a:prstGeom>
          <a:solidFill>
            <a:srgbClr val="C0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977640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C0302B"/>
                </a:solidFill>
                <a:latin typeface="微软雅黑"/>
              </a:rPr>
              <a:t>没有个体识别，只能做群体级预警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6B"/>
                </a:solidFill>
                <a:latin typeface="微软雅黑"/>
              </a:rPr>
              <a:t>无法定位到具体某一头猪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742432" y="4224528"/>
            <a:ext cx="384048" cy="329184"/>
          </a:xfrm>
          <a:prstGeom prst="rightArrow">
            <a:avLst/>
          </a:prstGeom>
          <a:solidFill>
            <a:srgbClr val="B8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977640"/>
            <a:ext cx="52120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E7D4F"/>
                </a:solidFill>
                <a:latin typeface="微软雅黑"/>
              </a:rPr>
              <a:t>中期引入个体重识别，把预警粒度从栏细化到头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029200"/>
            <a:ext cx="11183112" cy="1060704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5029200"/>
            <a:ext cx="82296" cy="1060704"/>
          </a:xfrm>
          <a:prstGeom prst="rect">
            <a:avLst/>
          </a:prstGeom>
          <a:solidFill>
            <a:srgbClr val="C0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148072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C0302B"/>
                </a:solidFill>
                <a:latin typeface="微软雅黑"/>
              </a:rPr>
              <a:t>健康评估基线尚未现场标定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6B"/>
                </a:solidFill>
                <a:latin typeface="微软雅黑"/>
              </a:rPr>
              <a:t>当前使用的是示例值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742432" y="5394960"/>
            <a:ext cx="384048" cy="329184"/>
          </a:xfrm>
          <a:prstGeom prst="rightArrow">
            <a:avLst/>
          </a:prstGeom>
          <a:solidFill>
            <a:srgbClr val="B8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5148072"/>
            <a:ext cx="52120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E7D4F"/>
                </a:solidFill>
                <a:latin typeface="微软雅黑"/>
              </a:rPr>
              <a:t>接入真实场数据重新标定基线，并禁止单帧下给出评估结论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75488"/>
          </a:xfrm>
          <a:prstGeom prst="rect">
            <a:avLst/>
          </a:prstGeom>
          <a:solidFill>
            <a:srgbClr val="D96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29184"/>
            <a:ext cx="10058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42C52"/>
                </a:solidFill>
                <a:latin typeface="微软雅黑"/>
              </a:rPr>
              <a:t>后续计划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26B"/>
                </a:solidFill>
                <a:latin typeface="微软雅黑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2764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A8B0B8"/>
                </a:solidFill>
                <a:latin typeface="微软雅黑"/>
              </a:rPr>
              <a:t>基于视觉行为感知的猪只疫病辅助诊断系统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36192"/>
            <a:ext cx="3657600" cy="370332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36192"/>
            <a:ext cx="3657600" cy="82296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773936"/>
            <a:ext cx="31455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F5C99"/>
                </a:solidFill>
                <a:latin typeface="微软雅黑"/>
              </a:rPr>
              <a:t>近期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26B"/>
                </a:solidFill>
                <a:latin typeface="微软雅黑"/>
              </a:rPr>
              <a:t>1 个月内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606040"/>
            <a:ext cx="3145536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333940"/>
                </a:solidFill>
                <a:latin typeface="微软雅黑"/>
              </a:rPr>
              <a:t>· 采集真实猪舍视频，人工标注行为片段，建立真实行为评测集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333940"/>
                </a:solidFill>
                <a:latin typeface="微软雅黑"/>
              </a:rPr>
              <a:t>· 引入 ByteTrack，改进跨帧关联的稳定性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52544" y="1536192"/>
            <a:ext cx="3657600" cy="370332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52544" y="1536192"/>
            <a:ext cx="3657600" cy="82296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1773936"/>
            <a:ext cx="31455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2E7D4F"/>
                </a:solidFill>
                <a:latin typeface="微软雅黑"/>
              </a:rPr>
              <a:t>中期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26B"/>
                </a:solidFill>
                <a:latin typeface="微软雅黑"/>
              </a:rPr>
              <a:t>3 至 6 个月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606040"/>
            <a:ext cx="3145536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333940"/>
                </a:solidFill>
                <a:latin typeface="微软雅黑"/>
              </a:rPr>
              <a:t>· 引入个体重识别，实现个体级行为时长统计与自身历史基线对比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333940"/>
                </a:solidFill>
                <a:latin typeface="微软雅黑"/>
              </a:rPr>
              <a:t>· 训练数据由 500 张扩充到全部 2682 张，并延长训练轮数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02168" y="1536192"/>
            <a:ext cx="3657600" cy="370332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02168" y="1536192"/>
            <a:ext cx="3657600" cy="82296"/>
          </a:xfrm>
          <a:prstGeom prst="rect">
            <a:avLst/>
          </a:prstGeom>
          <a:solidFill>
            <a:srgbClr val="D96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773936"/>
            <a:ext cx="31455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96B1E"/>
                </a:solidFill>
                <a:latin typeface="微软雅黑"/>
              </a:rPr>
              <a:t>远期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26B"/>
                </a:solidFill>
                <a:latin typeface="微软雅黑"/>
              </a:rPr>
              <a:t>1 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606040"/>
            <a:ext cx="3145536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333940"/>
                </a:solidFill>
                <a:latin typeface="微软雅黑"/>
              </a:rPr>
              <a:t>· 接入猪场生产管理系统，把行为数据与饲喂记录、生产成绩联合研判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333940"/>
                </a:solidFill>
                <a:latin typeface="微软雅黑"/>
              </a:rPr>
              <a:t>· 扩展行为类别至发情鉴定、跛行检测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333940"/>
                </a:solidFill>
                <a:latin typeface="微软雅黑"/>
              </a:rPr>
              <a:t>· 探索边缘设备端侧部署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883664"/>
            <a:ext cx="1371600" cy="73152"/>
          </a:xfrm>
          <a:prstGeom prst="rect">
            <a:avLst/>
          </a:prstGeom>
          <a:solidFill>
            <a:srgbClr val="D96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CB4D0"/>
                </a:solidFill>
                <a:latin typeface="微软雅黑"/>
              </a:rPr>
              <a:t>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把猪场已有的监控画面，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转化为可量化、可预警的行为数据。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6908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C8D8E8"/>
                </a:solidFill>
                <a:latin typeface="微软雅黑"/>
              </a:rPr>
              <a:t>· 复用现有硬件，不新增设备投入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C8D8E8"/>
                </a:solidFill>
                <a:latin typeface="微软雅黑"/>
              </a:rPr>
              <a:t>· 纯 CPU 运行，不需要独立显卡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C8D8E8"/>
                </a:solidFill>
                <a:latin typeface="微软雅黑"/>
              </a:rPr>
              <a:t>· 每条判定都给出依据，饲养员知道该不该采信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